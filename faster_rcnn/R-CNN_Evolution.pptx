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FC3F7"/>
                </a:solidFill>
              </a:defRPr>
            </a:pPr>
            <a:r>
              <a:t>R-CNN Evolution</a:t>
            </a:r>
          </a:p>
          <a:p>
            <a:pPr algn="ctr">
              <a:defRPr sz="3200"/>
            </a:pPr>
            <a:r>
              <a:t>R-CNN -&gt; Fast R-CNN -&gt; Faster R-CNN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FC3F7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/>
            </a:pPr>
            <a:r>
              <a:t>Classification: WHAT is in the image</a:t>
            </a:r>
          </a:p>
          <a:p>
            <a:pPr>
              <a:spcAft>
                <a:spcPts val="1400"/>
              </a:spcAft>
              <a:defRPr sz="2800"/>
            </a:pPr>
            <a:r>
              <a:t>Detection: WHAT + WHERE (bounding boxes)</a:t>
            </a:r>
          </a:p>
          <a:p>
            <a:pPr>
              <a:spcAft>
                <a:spcPts val="1400"/>
              </a:spcAft>
              <a:defRPr sz="2800"/>
            </a:pPr>
            <a:r>
              <a:t>Need to find multiple objects and their locations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FC3F7"/>
                </a:solidFill>
              </a:defRPr>
            </a:pPr>
            <a:r>
              <a:t>R-CNN (2014)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/>
            </a:pPr>
            <a:r>
              <a:t>1. Selective Search -&gt; ~2000 region proposals</a:t>
            </a:r>
          </a:p>
          <a:p>
            <a:pPr>
              <a:spcAft>
                <a:spcPts val="1400"/>
              </a:spcAft>
              <a:defRPr sz="2800"/>
            </a:pPr>
            <a:r>
              <a:t>2. Warp each region to fixed size</a:t>
            </a:r>
          </a:p>
          <a:p>
            <a:pPr>
              <a:spcAft>
                <a:spcPts val="1400"/>
              </a:spcAft>
              <a:defRPr sz="2800"/>
            </a:pPr>
            <a:r>
              <a:t>3. Run CNN on each region (2000 times!)</a:t>
            </a:r>
          </a:p>
          <a:p>
            <a:pPr>
              <a:spcAft>
                <a:spcPts val="1400"/>
              </a:spcAft>
              <a:defRPr sz="2800"/>
            </a:pPr>
            <a:r>
              <a:t>4. SVM classifies each region</a:t>
            </a:r>
          </a:p>
          <a:p>
            <a:pPr>
              <a:spcAft>
                <a:spcPts val="1400"/>
              </a:spcAft>
              <a:defRPr sz="2800"/>
            </a:pPr>
            <a:r>
              <a:t>Speed: 47 seconds per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FC3F7"/>
                </a:solidFill>
              </a:defRPr>
            </a:pPr>
            <a:r>
              <a:t>Fast R-CNN (2015)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/>
            </a:pPr>
            <a:r>
              <a:t>1. Run CNN once on full image -&gt; feature map</a:t>
            </a:r>
          </a:p>
          <a:p>
            <a:pPr>
              <a:spcAft>
                <a:spcPts val="1400"/>
              </a:spcAft>
              <a:defRPr sz="2800"/>
            </a:pPr>
            <a:r>
              <a:t>2. Selective Search -&gt; region proposals</a:t>
            </a:r>
          </a:p>
          <a:p>
            <a:pPr>
              <a:spcAft>
                <a:spcPts val="1400"/>
              </a:spcAft>
              <a:defRPr sz="2800"/>
            </a:pPr>
            <a:r>
              <a:t>3. ROI Pooling: extract fixed-size features per region</a:t>
            </a:r>
          </a:p>
          <a:p>
            <a:pPr>
              <a:spcAft>
                <a:spcPts val="1400"/>
              </a:spcAft>
              <a:defRPr sz="2800"/>
            </a:pPr>
            <a:r>
              <a:t>4. Classify each region</a:t>
            </a:r>
          </a:p>
          <a:p>
            <a:pPr>
              <a:spcAft>
                <a:spcPts val="1400"/>
              </a:spcAft>
              <a:defRPr sz="2800"/>
            </a:pPr>
            <a:r>
              <a:t>Speed: 2 seconds (bottleneck: Selective Search)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FC3F7"/>
                </a:solidFill>
              </a:defRPr>
            </a:pPr>
            <a:r>
              <a:t>Faster R-CNN (2015)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/>
            </a:pPr>
            <a:r>
              <a:t>Replace Selective Search with RPN (Region Proposal Network)</a:t>
            </a:r>
          </a:p>
          <a:p>
            <a:pPr>
              <a:spcAft>
                <a:spcPts val="1400"/>
              </a:spcAft>
              <a:defRPr sz="2800"/>
            </a:pPr>
            <a:r>
              <a:t>RPN runs on feature map (GPU, learnable)</a:t>
            </a:r>
          </a:p>
          <a:p>
            <a:pPr>
              <a:spcAft>
                <a:spcPts val="1400"/>
              </a:spcAft>
              <a:defRPr sz="2800"/>
            </a:pPr>
            <a:r>
              <a:t>Uses anchor boxes: 9 per location (3 scales x 3 ratios)</a:t>
            </a:r>
          </a:p>
          <a:p>
            <a:pPr>
              <a:spcAft>
                <a:spcPts val="1400"/>
              </a:spcAft>
              <a:defRPr sz="2800"/>
            </a:pPr>
            <a:r>
              <a:t>Only ~300 proposals needed</a:t>
            </a:r>
          </a:p>
          <a:p>
            <a:pPr>
              <a:spcAft>
                <a:spcPts val="1400"/>
              </a:spcAft>
              <a:defRPr sz="2800"/>
            </a:pPr>
            <a:r>
              <a:t>Speed: 0.2 seconds (5 FPS)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FC3F7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/>
            </a:pPr>
            <a:r>
              <a:t>R-CNN: CNN x2000 -&gt; 47 seconds</a:t>
            </a:r>
          </a:p>
          <a:p>
            <a:pPr>
              <a:spcAft>
                <a:spcPts val="1400"/>
              </a:spcAft>
              <a:defRPr sz="2800"/>
            </a:pPr>
            <a:r>
              <a:t>Fast R-CNN: CNN x1, but Selective Search -&gt; 2 seconds</a:t>
            </a:r>
          </a:p>
          <a:p>
            <a:pPr>
              <a:spcAft>
                <a:spcPts val="1400"/>
              </a:spcAft>
              <a:defRPr sz="2800"/>
            </a:pPr>
            <a:r>
              <a:t>Faster R-CNN: RPN replaces Selective Search -&gt; 0.2 seconds</a:t>
            </a:r>
          </a:p>
          <a:p>
            <a:pPr>
              <a:spcAft>
                <a:spcPts val="1400"/>
              </a:spcAft>
              <a:defRPr sz="2800"/>
            </a:pPr>
            <a:r>
              <a:t>Key: Each version removes the previous bottleneck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